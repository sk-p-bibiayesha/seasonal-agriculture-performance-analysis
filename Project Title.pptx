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7"/>
  </p:handoutMasterIdLst>
  <p:sldIdLst>
    <p:sldId id="338" r:id="rId3"/>
    <p:sldId id="327" r:id="rId4"/>
    <p:sldId id="315" r:id="rId5"/>
    <p:sldId id="329" r:id="rId6"/>
    <p:sldId id="302" r:id="rId7"/>
    <p:sldId id="339" r:id="rId9"/>
    <p:sldId id="340" r:id="rId10"/>
    <p:sldId id="344" r:id="rId11"/>
    <p:sldId id="345" r:id="rId12"/>
    <p:sldId id="346" r:id="rId13"/>
    <p:sldId id="341" r:id="rId14"/>
    <p:sldId id="342"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20" userDrawn="1">
          <p15:clr>
            <a:srgbClr val="A4A3A4"/>
          </p15:clr>
        </p15:guide>
        <p15:guide id="2" pos="426" userDrawn="1">
          <p15:clr>
            <a:srgbClr val="A4A3A4"/>
          </p15:clr>
        </p15:guide>
        <p15:guide id="3" orient="horz" pos="3926"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20"/>
        <p:guide pos="426"/>
        <p:guide orient="horz" pos="3926"/>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customXml" Target="../customXml/item3.xml"/><Relationship Id="rId22" Type="http://schemas.openxmlformats.org/officeDocument/2006/relationships/customXml" Target="../customXml/item2.xml"/><Relationship Id="rId21" Type="http://schemas.openxmlformats.org/officeDocument/2006/relationships/customXml" Target="../customXml/item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8.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1.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hyperlink" Target="https://github.com/SK-P-BibiAyesha/Seasonal-Agriculture-Performance-Analysis.git" TargetMode="Externa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694055" y="3583940"/>
            <a:ext cx="9578340" cy="861695"/>
          </a:xfrm>
        </p:spPr>
        <p:txBody>
          <a:bodyPr vert="horz" lIns="91440" tIns="45720" rIns="91440" bIns="45720" rtlCol="0" anchor="t">
            <a:normAutofit/>
          </a:bodyPr>
          <a:lstStyle/>
          <a:p>
            <a:pPr algn="r"/>
            <a:r>
              <a:rPr lang="en-US" b="0" dirty="0">
                <a:solidFill>
                  <a:schemeClr val="tx1"/>
                </a:solidFill>
              </a:rPr>
              <a:t>S</a:t>
            </a:r>
            <a:r>
              <a:rPr lang="en-IN" altLang="en-US" b="0" dirty="0">
                <a:solidFill>
                  <a:schemeClr val="tx1"/>
                </a:solidFill>
              </a:rPr>
              <a:t>HAIK PATTA BIBI AYESHA</a:t>
            </a:r>
            <a:r>
              <a:rPr lang="en-US" b="0" dirty="0">
                <a:solidFill>
                  <a:schemeClr val="tx1"/>
                </a:solidFill>
              </a:rPr>
              <a:t> </a:t>
            </a:r>
            <a:endParaRPr lang="en-IN" b="0" dirty="0">
              <a:solidFill>
                <a:schemeClr val="tx1"/>
              </a:solidFill>
            </a:endParaRPr>
          </a:p>
          <a:p>
            <a:pPr algn="r"/>
            <a:r>
              <a:rPr lang="en-IN" altLang="en-US" b="0" dirty="0">
                <a:solidFill>
                  <a:schemeClr val="tx1"/>
                </a:solidFill>
              </a:rPr>
              <a:t>NRI INSTITUTE OF TECHNOLOGY, Guntur</a:t>
            </a:r>
            <a:endParaRPr lang="en-IN" b="0" dirty="0">
              <a:solidFill>
                <a:schemeClr val="tx1"/>
              </a:solidFill>
            </a:endParaRPr>
          </a:p>
        </p:txBody>
      </p:sp>
      <p:sp>
        <p:nvSpPr>
          <p:cNvPr id="4" name="Title 3"/>
          <p:cNvSpPr>
            <a:spLocks noGrp="1"/>
          </p:cNvSpPr>
          <p:nvPr>
            <p:ph type="title"/>
          </p:nvPr>
        </p:nvSpPr>
        <p:spPr>
          <a:xfrm>
            <a:off x="133985" y="2726055"/>
            <a:ext cx="10138410" cy="862330"/>
          </a:xfrm>
        </p:spPr>
        <p:txBody>
          <a:bodyPr>
            <a:normAutofit fontScale="90000"/>
          </a:bodyPr>
          <a:lstStyle/>
          <a:p>
            <a:r>
              <a:rPr lang="en-GB" sz="3200" dirty="0"/>
              <a:t>Project Title -</a:t>
            </a:r>
            <a:r>
              <a:rPr lang="en-IN" altLang="en-GB" sz="3200" dirty="0"/>
              <a:t> Seasonal Agricultural Performance Analysis</a:t>
            </a:r>
            <a:endParaRPr lang="en-IN" altLang="en-GB" sz="3200" dirty="0"/>
          </a:p>
        </p:txBody>
      </p:sp>
      <p:sp>
        <p:nvSpPr>
          <p:cNvPr id="15" name="Text Placeholder 1"/>
          <p:cNvSpPr txBox="1"/>
          <p:nvPr/>
        </p:nvSpPr>
        <p:spPr>
          <a:xfrm>
            <a:off x="6960235"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8129270" y="6471920"/>
            <a:ext cx="2143125" cy="193040"/>
          </a:xfrm>
          <a:prstGeom prst="rect">
            <a:avLst/>
          </a:prstGeom>
        </p:spPr>
      </p:pic>
      <p:sp>
        <p:nvSpPr>
          <p:cNvPr id="3" name="TextBox 2"/>
          <p:cNvSpPr txBox="1"/>
          <p:nvPr/>
        </p:nvSpPr>
        <p:spPr>
          <a:xfrm>
            <a:off x="693420" y="4558665"/>
            <a:ext cx="9578975" cy="664210"/>
          </a:xfrm>
          <a:prstGeom prst="rect">
            <a:avLst/>
          </a:prstGeom>
          <a:noFill/>
        </p:spPr>
        <p:txBody>
          <a:bodyPr wrap="square" rtlCol="0">
            <a:noAutofit/>
          </a:bodyPr>
          <a:lstStyle/>
          <a:p>
            <a:pPr algn="r"/>
            <a:r>
              <a:rPr lang="en-US" altLang="en-US" b="1" dirty="0"/>
              <a:t>STU673bdd3f7066e1731976511</a:t>
            </a:r>
            <a:endParaRPr 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835660" y="1517015"/>
            <a:ext cx="7338060" cy="4335145"/>
          </a:xfrm>
        </p:spPr>
        <p:txBody>
          <a:bodyPr vert="horz" lIns="91440" tIns="45720" rIns="91440" bIns="45720" rtlCol="0" anchor="t">
            <a:normAutofit fontScale="50000"/>
          </a:bodyPr>
          <a:lstStyle/>
          <a:p>
            <a:pPr marL="0" indent="0">
              <a:lnSpc>
                <a:spcPct val="100000"/>
              </a:lnSpc>
              <a:buNone/>
            </a:pPr>
            <a:r>
              <a:rPr lang="en-US" altLang="en-US" sz="3000" dirty="0">
                <a:latin typeface="Arial" panose="020B0604020202020204" pitchFamily="34" charset="0"/>
                <a:cs typeface="Arial" panose="020B0604020202020204" pitchFamily="34" charset="0"/>
              </a:rPr>
              <a:t>Agricultural activities are influenced by seasonal variations in environmental conditions, </a:t>
            </a:r>
            <a:endParaRPr lang="en-US" altLang="en-US" sz="3000" dirty="0">
              <a:latin typeface="Arial" panose="020B0604020202020204" pitchFamily="34" charset="0"/>
              <a:cs typeface="Arial" panose="020B0604020202020204" pitchFamily="34" charset="0"/>
            </a:endParaRPr>
          </a:p>
          <a:p>
            <a:pPr marL="0" indent="0">
              <a:lnSpc>
                <a:spcPct val="100000"/>
              </a:lnSpc>
              <a:buNone/>
            </a:pPr>
            <a:r>
              <a:rPr lang="en-US" altLang="en-US" sz="3000" dirty="0">
                <a:latin typeface="Arial" panose="020B0604020202020204" pitchFamily="34" charset="0"/>
                <a:cs typeface="Arial" panose="020B0604020202020204" pitchFamily="34" charset="0"/>
              </a:rPr>
              <a:t>farming practices, resource availability and market conditions. As a result, agricultural </a:t>
            </a:r>
            <a:endParaRPr lang="en-US" altLang="en-US" sz="3000" dirty="0">
              <a:latin typeface="Arial" panose="020B0604020202020204" pitchFamily="34" charset="0"/>
              <a:cs typeface="Arial" panose="020B0604020202020204" pitchFamily="34" charset="0"/>
            </a:endParaRPr>
          </a:p>
          <a:p>
            <a:pPr marL="0" indent="0">
              <a:lnSpc>
                <a:spcPct val="100000"/>
              </a:lnSpc>
              <a:buNone/>
            </a:pPr>
            <a:r>
              <a:rPr lang="en-US" altLang="en-US" sz="3000" dirty="0">
                <a:latin typeface="Arial" panose="020B0604020202020204" pitchFamily="34" charset="0"/>
                <a:cs typeface="Arial" panose="020B0604020202020204" pitchFamily="34" charset="0"/>
              </a:rPr>
              <a:t>performance may differ from one season to another. </a:t>
            </a:r>
            <a:endParaRPr lang="en-US" altLang="en-US" sz="3000" dirty="0">
              <a:latin typeface="Arial" panose="020B0604020202020204" pitchFamily="34" charset="0"/>
              <a:cs typeface="Arial" panose="020B0604020202020204" pitchFamily="34" charset="0"/>
            </a:endParaRPr>
          </a:p>
          <a:p>
            <a:pPr marL="0" indent="0">
              <a:lnSpc>
                <a:spcPct val="100000"/>
              </a:lnSpc>
              <a:buNone/>
            </a:pPr>
            <a:r>
              <a:rPr lang="en-US" altLang="en-US" sz="3000" dirty="0">
                <a:latin typeface="Arial" panose="020B0604020202020204" pitchFamily="34" charset="0"/>
                <a:cs typeface="Arial" panose="020B0604020202020204" pitchFamily="34" charset="0"/>
              </a:rPr>
              <a:t>However, raw agricultural data does not clearly explain how agricultural performance changes </a:t>
            </a:r>
            <a:endParaRPr lang="en-US" altLang="en-US" sz="3000" dirty="0">
              <a:latin typeface="Arial" panose="020B0604020202020204" pitchFamily="34" charset="0"/>
              <a:cs typeface="Arial" panose="020B0604020202020204" pitchFamily="34" charset="0"/>
            </a:endParaRPr>
          </a:p>
          <a:p>
            <a:pPr marL="0" indent="0">
              <a:lnSpc>
                <a:spcPct val="100000"/>
              </a:lnSpc>
              <a:buNone/>
            </a:pPr>
            <a:r>
              <a:rPr lang="en-US" altLang="en-US" sz="3000" dirty="0">
                <a:latin typeface="Arial" panose="020B0604020202020204" pitchFamily="34" charset="0"/>
                <a:cs typeface="Arial" panose="020B0604020202020204" pitchFamily="34" charset="0"/>
              </a:rPr>
              <a:t>across seasons or what patterns can be observed in different seasonal conditions. </a:t>
            </a:r>
            <a:endParaRPr lang="en-US" altLang="en-US" sz="3000" dirty="0">
              <a:latin typeface="Arial" panose="020B0604020202020204" pitchFamily="34" charset="0"/>
              <a:cs typeface="Arial" panose="020B0604020202020204" pitchFamily="34" charset="0"/>
            </a:endParaRPr>
          </a:p>
          <a:p>
            <a:pPr marL="0" indent="0">
              <a:lnSpc>
                <a:spcPct val="100000"/>
              </a:lnSpc>
              <a:buNone/>
            </a:pPr>
            <a:r>
              <a:rPr lang="en-US" altLang="en-US" sz="3000" dirty="0">
                <a:latin typeface="Arial" panose="020B0604020202020204" pitchFamily="34" charset="0"/>
                <a:cs typeface="Arial" panose="020B0604020202020204" pitchFamily="34" charset="0"/>
              </a:rPr>
              <a:t>The problem is to analyze the given agricultural dataset and investigate seasonal differences </a:t>
            </a:r>
            <a:endParaRPr lang="en-US" altLang="en-US" sz="3000" dirty="0">
              <a:latin typeface="Arial" panose="020B0604020202020204" pitchFamily="34" charset="0"/>
              <a:cs typeface="Arial" panose="020B0604020202020204" pitchFamily="34" charset="0"/>
            </a:endParaRPr>
          </a:p>
          <a:p>
            <a:pPr marL="0" indent="0">
              <a:lnSpc>
                <a:spcPct val="100000"/>
              </a:lnSpc>
              <a:buNone/>
            </a:pPr>
            <a:r>
              <a:rPr lang="en-US" altLang="en-US" sz="3000" dirty="0">
                <a:latin typeface="Arial" panose="020B0604020202020204" pitchFamily="34" charset="0"/>
                <a:cs typeface="Arial" panose="020B0604020202020204" pitchFamily="34" charset="0"/>
              </a:rPr>
              <a:t>in agricultural performance by identifying meaningful patterns, trends, relationships and </a:t>
            </a:r>
            <a:endParaRPr lang="en-US" altLang="en-US" sz="3000" dirty="0">
              <a:latin typeface="Arial" panose="020B0604020202020204" pitchFamily="34" charset="0"/>
              <a:cs typeface="Arial" panose="020B0604020202020204" pitchFamily="34" charset="0"/>
            </a:endParaRPr>
          </a:p>
          <a:p>
            <a:pPr marL="0" indent="0">
              <a:lnSpc>
                <a:spcPct val="100000"/>
              </a:lnSpc>
              <a:buNone/>
            </a:pPr>
            <a:r>
              <a:rPr lang="en-US" altLang="en-US" sz="3000" dirty="0">
                <a:latin typeface="Arial" panose="020B0604020202020204" pitchFamily="34" charset="0"/>
                <a:cs typeface="Arial" panose="020B0604020202020204" pitchFamily="34" charset="0"/>
              </a:rPr>
              <a:t>variations within the available data. </a:t>
            </a:r>
            <a:endParaRPr lang="en-US" altLang="en-US" sz="3000" dirty="0">
              <a:latin typeface="Arial" panose="020B0604020202020204" pitchFamily="34" charset="0"/>
              <a:cs typeface="Arial" panose="020B0604020202020204" pitchFamily="34" charset="0"/>
            </a:endParaRPr>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r>
              <a:rPr lang="en-GB" dirty="0"/>
              <a:t>Project Description</a:t>
            </a:r>
            <a:br>
              <a:rPr lang="en-US" altLang="en-US" sz="1335" b="0" dirty="0"/>
            </a:br>
            <a:br>
              <a:rPr lang="en-US" altLang="en-US" sz="1335" b="0" dirty="0"/>
            </a:br>
            <a:r>
              <a:rPr lang="en-US" altLang="en-US" sz="1335" b="0" dirty="0">
                <a:latin typeface="Arial" panose="020B0604020202020204" pitchFamily="34" charset="0"/>
                <a:cs typeface="Arial" panose="020B0604020202020204" pitchFamily="34" charset="0"/>
              </a:rPr>
              <a:t>The Seasonal Agriculture Performance Analysis project focuses on analyzing</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agricultural data collected across different seasons, geographical areas,</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crops and farming conditions.</a:t>
            </a:r>
            <a:br>
              <a:rPr lang="en-US" altLang="en-US" sz="1335" b="0" dirty="0">
                <a:latin typeface="Arial" panose="020B0604020202020204" pitchFamily="34" charset="0"/>
                <a:cs typeface="Arial" panose="020B0604020202020204" pitchFamily="34" charset="0"/>
              </a:rPr>
            </a:b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The dataset contains information related to farming practices,</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environmental conditions, crop production, resource utilization and</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economic performance. The project aims to understand how agricultural</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performance changes across different seasons by exploring patterns,</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trends, relationships and variations in the available data.</a:t>
            </a:r>
            <a:br>
              <a:rPr lang="en-US" altLang="en-US" sz="1335" b="0" dirty="0">
                <a:latin typeface="Arial" panose="020B0604020202020204" pitchFamily="34" charset="0"/>
                <a:cs typeface="Arial" panose="020B0604020202020204" pitchFamily="34" charset="0"/>
              </a:rPr>
            </a:b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The analysis will begin with data exploration and cleaning to understand</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the structure, quality and characteristics of the dataset. Different</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statistical and data visualization techniques will then be used to</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compare agricultural performance across seasons.</a:t>
            </a:r>
            <a:br>
              <a:rPr lang="en-US" altLang="en-US" sz="1335" b="0" dirty="0">
                <a:latin typeface="Arial" panose="020B0604020202020204" pitchFamily="34" charset="0"/>
                <a:cs typeface="Arial" panose="020B0604020202020204" pitchFamily="34" charset="0"/>
              </a:rPr>
            </a:b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The project will examine seasonal differences in crop production, yield,</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resource usage, environmental conditions and economic outcomes. It will</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also investigate relationships between environmental and farming</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conditions and agricultural performance.</a:t>
            </a:r>
            <a:br>
              <a:rPr lang="en-US" altLang="en-US" sz="1335" b="0" dirty="0">
                <a:latin typeface="Arial" panose="020B0604020202020204" pitchFamily="34" charset="0"/>
                <a:cs typeface="Arial" panose="020B0604020202020204" pitchFamily="34" charset="0"/>
              </a:rPr>
            </a:b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The findings will be interpreted based on evidence from the dataset.</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The project will conclude with important insights and data-driven</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recommendations that can support better understanding and planning of</a:t>
            </a:r>
            <a:br>
              <a:rPr lang="en-US" altLang="en-US" sz="1335" b="0" dirty="0">
                <a:latin typeface="Arial" panose="020B0604020202020204" pitchFamily="34" charset="0"/>
                <a:cs typeface="Arial" panose="020B0604020202020204" pitchFamily="34" charset="0"/>
              </a:rPr>
            </a:br>
            <a:r>
              <a:rPr lang="en-US" altLang="en-US" sz="1335" b="0" dirty="0">
                <a:latin typeface="Arial" panose="020B0604020202020204" pitchFamily="34" charset="0"/>
                <a:cs typeface="Arial" panose="020B0604020202020204" pitchFamily="34" charset="0"/>
              </a:rPr>
              <a:t>seasonal agricultural activities.</a:t>
            </a:r>
            <a:r>
              <a:rPr lang="en-GB" sz="1335" b="0" dirty="0">
                <a:latin typeface="Arial" panose="020B0604020202020204" pitchFamily="34" charset="0"/>
                <a:cs typeface="Arial" panose="020B0604020202020204" pitchFamily="34" charset="0"/>
              </a:rPr>
              <a:t> </a:t>
            </a:r>
            <a:br>
              <a:rPr lang="en-GB" sz="1335" dirty="0">
                <a:latin typeface="Arial" panose="020B0604020202020204" pitchFamily="34" charset="0"/>
                <a:cs typeface="Arial" panose="020B0604020202020204" pitchFamily="34" charset="0"/>
              </a:rPr>
            </a:br>
            <a:endParaRPr lang="en-IN" sz="1335"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619760" y="1679575"/>
            <a:ext cx="8613775" cy="4982845"/>
          </a:xfrm>
        </p:spPr>
        <p:txBody>
          <a:bodyPr>
            <a:normAutofit fontScale="25000"/>
          </a:bodyPr>
          <a:lstStyle/>
          <a:p>
            <a:pPr marL="0" indent="0" algn="just">
              <a:lnSpc>
                <a:spcPct val="100000"/>
              </a:lnSpc>
              <a:buNone/>
            </a:pPr>
            <a:r>
              <a:rPr lang="zh-CN" altLang="en-US" sz="4000" dirty="0">
                <a:latin typeface="Arial" panose="020B0604020202020204" pitchFamily="34" charset="0"/>
                <a:cs typeface="Arial" panose="020B0604020202020204" pitchFamily="34" charset="0"/>
              </a:rPr>
              <a:t>👨‍🌾 </a:t>
            </a:r>
            <a:r>
              <a:rPr lang="en-US" altLang="en-US" sz="4000" dirty="0">
                <a:latin typeface="Arial" panose="020B0604020202020204" pitchFamily="34" charset="0"/>
                <a:cs typeface="Arial" panose="020B0604020202020204" pitchFamily="34" charset="0"/>
              </a:rPr>
              <a:t>Farmers</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Compare crop and seasonal performance</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Understand resource usage</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Support crop-season planning</a:t>
            </a:r>
            <a:endParaRPr lang="en-US" altLang="en-US" sz="4000" dirty="0">
              <a:latin typeface="Arial" panose="020B0604020202020204" pitchFamily="34" charset="0"/>
              <a:cs typeface="Arial" panose="020B0604020202020204" pitchFamily="34" charset="0"/>
            </a:endParaRPr>
          </a:p>
          <a:p>
            <a:pPr marL="0" indent="0" algn="just">
              <a:lnSpc>
                <a:spcPct val="100000"/>
              </a:lnSpc>
              <a:buNone/>
            </a:pPr>
            <a:r>
              <a:rPr lang="zh-CN" altLang="en-US" sz="4000" dirty="0">
                <a:latin typeface="Arial" panose="020B0604020202020204" pitchFamily="34" charset="0"/>
                <a:cs typeface="Arial" panose="020B0604020202020204" pitchFamily="34" charset="0"/>
              </a:rPr>
              <a:t>🌾 </a:t>
            </a:r>
            <a:r>
              <a:rPr lang="en-US" altLang="en-US" sz="4000" dirty="0">
                <a:latin typeface="Arial" panose="020B0604020202020204" pitchFamily="34" charset="0"/>
                <a:cs typeface="Arial" panose="020B0604020202020204" pitchFamily="34" charset="0"/>
              </a:rPr>
              <a:t>Agricultural Planners</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Identify seasonal performance patterns</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Support resource allocation decisions</a:t>
            </a:r>
            <a:endParaRPr lang="en-US" altLang="en-US" sz="4000" dirty="0">
              <a:latin typeface="Arial" panose="020B0604020202020204" pitchFamily="34" charset="0"/>
              <a:cs typeface="Arial" panose="020B0604020202020204" pitchFamily="34" charset="0"/>
            </a:endParaRPr>
          </a:p>
          <a:p>
            <a:pPr marL="0" indent="0" algn="just">
              <a:lnSpc>
                <a:spcPct val="100000"/>
              </a:lnSpc>
              <a:buNone/>
            </a:pPr>
            <a:r>
              <a:rPr lang="zh-CN" altLang="en-US" sz="4000" dirty="0">
                <a:latin typeface="Arial" panose="020B0604020202020204" pitchFamily="34" charset="0"/>
                <a:cs typeface="Arial" panose="020B0604020202020204" pitchFamily="34" charset="0"/>
              </a:rPr>
              <a:t>🏛️ </a:t>
            </a:r>
            <a:r>
              <a:rPr lang="en-US" altLang="en-US" sz="4000" dirty="0">
                <a:latin typeface="Arial" panose="020B0604020202020204" pitchFamily="34" charset="0"/>
                <a:cs typeface="Arial" panose="020B0604020202020204" pitchFamily="34" charset="0"/>
              </a:rPr>
              <a:t>Agricultural Departments</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Understand regional and seasonal agricultural trends</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Support planning and policy decisions</a:t>
            </a:r>
            <a:endParaRPr lang="en-US" altLang="en-US" sz="4000" dirty="0">
              <a:latin typeface="Arial" panose="020B0604020202020204" pitchFamily="34" charset="0"/>
              <a:cs typeface="Arial" panose="020B0604020202020204" pitchFamily="34" charset="0"/>
            </a:endParaRPr>
          </a:p>
          <a:p>
            <a:pPr marL="0" indent="0" algn="just">
              <a:lnSpc>
                <a:spcPct val="100000"/>
              </a:lnSpc>
              <a:buNone/>
            </a:pPr>
            <a:r>
              <a:rPr lang="zh-CN" altLang="en-US" sz="4000" dirty="0">
                <a:latin typeface="Arial" panose="020B0604020202020204" pitchFamily="34" charset="0"/>
                <a:cs typeface="Arial" panose="020B0604020202020204" pitchFamily="34" charset="0"/>
              </a:rPr>
              <a:t>📊 </a:t>
            </a:r>
            <a:r>
              <a:rPr lang="en-US" altLang="en-US" sz="4000" dirty="0">
                <a:latin typeface="Arial" panose="020B0604020202020204" pitchFamily="34" charset="0"/>
                <a:cs typeface="Arial" panose="020B0604020202020204" pitchFamily="34" charset="0"/>
              </a:rPr>
              <a:t>Data Analysts / Researchers</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Analyze agricultural trends</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Identify relationships and unusual patterns</a:t>
            </a:r>
            <a:endParaRPr lang="en-US" altLang="en-US" sz="4000" dirty="0">
              <a:latin typeface="Arial" panose="020B0604020202020204" pitchFamily="34" charset="0"/>
              <a:cs typeface="Arial" panose="020B0604020202020204" pitchFamily="34" charset="0"/>
            </a:endParaRPr>
          </a:p>
          <a:p>
            <a:pPr marL="0" indent="0" algn="just">
              <a:lnSpc>
                <a:spcPct val="100000"/>
              </a:lnSpc>
              <a:buNone/>
            </a:pPr>
            <a:r>
              <a:rPr lang="zh-CN" altLang="en-US" sz="4000" dirty="0">
                <a:latin typeface="Arial" panose="020B0604020202020204" pitchFamily="34" charset="0"/>
                <a:cs typeface="Arial" panose="020B0604020202020204" pitchFamily="34" charset="0"/>
              </a:rPr>
              <a:t>💧 </a:t>
            </a:r>
            <a:r>
              <a:rPr lang="en-US" altLang="en-US" sz="4000" dirty="0">
                <a:latin typeface="Arial" panose="020B0604020202020204" pitchFamily="34" charset="0"/>
                <a:cs typeface="Arial" panose="020B0604020202020204" pitchFamily="34" charset="0"/>
              </a:rPr>
              <a:t>Resource Managers</a:t>
            </a:r>
            <a:endParaRPr lang="en-US" altLang="en-US" sz="4000" dirty="0">
              <a:latin typeface="Arial" panose="020B0604020202020204" pitchFamily="34" charset="0"/>
              <a:cs typeface="Arial" panose="020B0604020202020204" pitchFamily="34" charset="0"/>
            </a:endParaRPr>
          </a:p>
          <a:p>
            <a:pPr algn="just">
              <a:lnSpc>
                <a:spcPct val="100000"/>
              </a:lnSpc>
            </a:pPr>
            <a:r>
              <a:rPr lang="en-US" altLang="en-US" sz="4000" dirty="0">
                <a:latin typeface="Arial" panose="020B0604020202020204" pitchFamily="34" charset="0"/>
                <a:cs typeface="Arial" panose="020B0604020202020204" pitchFamily="34" charset="0"/>
              </a:rPr>
              <a:t>Evaluate water usage and efficiency</a:t>
            </a:r>
            <a:endParaRPr lang="en-US" altLang="en-US" sz="4000" dirty="0">
              <a:latin typeface="Arial" panose="020B0604020202020204" pitchFamily="34" charset="0"/>
              <a:cs typeface="Arial" panose="020B0604020202020204" pitchFamily="34" charset="0"/>
            </a:endParaRPr>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
                                            <p:txEl>
                                              <p:pRg st="13" end="13"/>
                                            </p:txEl>
                                          </p:spTgt>
                                        </p:tgtEl>
                                        <p:attrNameLst>
                                          <p:attrName>style.visibility</p:attrName>
                                        </p:attrNameLst>
                                      </p:cBhvr>
                                      <p:to>
                                        <p:strVal val="visible"/>
                                      </p:to>
                                    </p:set>
                                    <p:animEffect transition="in" filter="fade">
                                      <p:cBhvr>
                                        <p:cTn id="105" dur="1000"/>
                                        <p:tgtEl>
                                          <p:spTgt spid="2">
                                            <p:txEl>
                                              <p:pRg st="13" end="13"/>
                                            </p:txEl>
                                          </p:spTgt>
                                        </p:tgtEl>
                                      </p:cBhvr>
                                    </p:animEffect>
                                    <p:anim calcmode="lin" valueType="num">
                                      <p:cBhvr>
                                        <p:cTn id="106"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
                                            <p:txEl>
                                              <p:pRg st="14" end="14"/>
                                            </p:txEl>
                                          </p:spTgt>
                                        </p:tgtEl>
                                        <p:attrNameLst>
                                          <p:attrName>style.visibility</p:attrName>
                                        </p:attrNameLst>
                                      </p:cBhvr>
                                      <p:to>
                                        <p:strVal val="visible"/>
                                      </p:to>
                                    </p:set>
                                    <p:animEffect transition="in" filter="fade">
                                      <p:cBhvr>
                                        <p:cTn id="112" dur="1000"/>
                                        <p:tgtEl>
                                          <p:spTgt spid="2">
                                            <p:txEl>
                                              <p:pRg st="14" end="14"/>
                                            </p:txEl>
                                          </p:spTgt>
                                        </p:tgtEl>
                                      </p:cBhvr>
                                    </p:animEffect>
                                    <p:anim calcmode="lin" valueType="num">
                                      <p:cBhvr>
                                        <p:cTn id="113"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660400" y="1479550"/>
            <a:ext cx="8757920" cy="5196205"/>
          </a:xfrm>
        </p:spPr>
        <p:txBody>
          <a:bodyPr>
            <a:normAutofit fontScale="60000"/>
          </a:bodyPr>
          <a:lstStyle/>
          <a:p>
            <a:pPr marL="457200" lvl="1" indent="0">
              <a:lnSpc>
                <a:spcPct val="20000"/>
              </a:lnSpc>
              <a:spcBef>
                <a:spcPts val="1000"/>
              </a:spcBef>
              <a:spcAft>
                <a:spcPts val="0"/>
              </a:spcAft>
              <a:buNone/>
            </a:pPr>
            <a:endParaRPr lang="en-US" altLang="en-US" dirty="0"/>
          </a:p>
          <a:p>
            <a:pPr marL="1371600" lvl="3" indent="0">
              <a:lnSpc>
                <a:spcPct val="20000"/>
              </a:lnSpc>
              <a:spcBef>
                <a:spcPts val="1000"/>
              </a:spcBef>
              <a:spcAft>
                <a:spcPts val="0"/>
              </a:spcAft>
              <a:buNone/>
            </a:pPr>
            <a:r>
              <a:rPr lang="en-US" altLang="en-US" dirty="0"/>
              <a:t>Programming Language</a:t>
            </a:r>
            <a:endParaRPr lang="en-US" altLang="en-US" dirty="0"/>
          </a:p>
          <a:p>
            <a:pPr lvl="3">
              <a:lnSpc>
                <a:spcPct val="80000"/>
              </a:lnSpc>
              <a:spcBef>
                <a:spcPts val="1000"/>
              </a:spcBef>
              <a:spcAft>
                <a:spcPts val="0"/>
              </a:spcAft>
            </a:pPr>
            <a:r>
              <a:rPr lang="en-US" altLang="en-US" dirty="0"/>
              <a:t>Python</a:t>
            </a:r>
            <a:endParaRPr lang="en-US" altLang="en-US" dirty="0"/>
          </a:p>
          <a:p>
            <a:pPr marL="1371600" lvl="3" indent="0">
              <a:lnSpc>
                <a:spcPct val="80000"/>
              </a:lnSpc>
              <a:spcBef>
                <a:spcPts val="1000"/>
              </a:spcBef>
              <a:spcAft>
                <a:spcPts val="0"/>
              </a:spcAft>
              <a:buNone/>
            </a:pPr>
            <a:r>
              <a:rPr lang="en-US" altLang="en-US" dirty="0"/>
              <a:t>Development Environment</a:t>
            </a:r>
            <a:endParaRPr lang="en-US" altLang="en-US" dirty="0"/>
          </a:p>
          <a:p>
            <a:pPr lvl="3">
              <a:lnSpc>
                <a:spcPct val="80000"/>
              </a:lnSpc>
              <a:spcBef>
                <a:spcPts val="1000"/>
              </a:spcBef>
              <a:spcAft>
                <a:spcPts val="0"/>
              </a:spcAft>
            </a:pPr>
            <a:r>
              <a:rPr lang="en-US" altLang="en-US" dirty="0"/>
              <a:t>Google Colab</a:t>
            </a:r>
            <a:endParaRPr lang="en-US" altLang="en-US" dirty="0"/>
          </a:p>
          <a:p>
            <a:pPr marL="1371600" lvl="3" indent="0">
              <a:lnSpc>
                <a:spcPct val="80000"/>
              </a:lnSpc>
              <a:spcBef>
                <a:spcPts val="1000"/>
              </a:spcBef>
              <a:spcAft>
                <a:spcPts val="0"/>
              </a:spcAft>
              <a:buNone/>
            </a:pPr>
            <a:r>
              <a:rPr lang="en-US" altLang="en-US" dirty="0"/>
              <a:t>Data Analysis</a:t>
            </a:r>
            <a:endParaRPr lang="en-US" altLang="en-US" dirty="0"/>
          </a:p>
          <a:p>
            <a:pPr lvl="3">
              <a:lnSpc>
                <a:spcPct val="80000"/>
              </a:lnSpc>
              <a:spcBef>
                <a:spcPts val="1000"/>
              </a:spcBef>
              <a:spcAft>
                <a:spcPts val="0"/>
              </a:spcAft>
            </a:pPr>
            <a:r>
              <a:rPr lang="en-US" altLang="en-US" dirty="0"/>
              <a:t>Pandas</a:t>
            </a:r>
            <a:endParaRPr lang="en-US" altLang="en-US" dirty="0"/>
          </a:p>
          <a:p>
            <a:pPr lvl="3">
              <a:lnSpc>
                <a:spcPct val="80000"/>
              </a:lnSpc>
              <a:spcBef>
                <a:spcPts val="1000"/>
              </a:spcBef>
              <a:spcAft>
                <a:spcPts val="0"/>
              </a:spcAft>
            </a:pPr>
            <a:r>
              <a:rPr lang="en-US" altLang="en-US" dirty="0"/>
              <a:t>NumPy</a:t>
            </a:r>
            <a:endParaRPr lang="en-US" altLang="en-US" dirty="0"/>
          </a:p>
          <a:p>
            <a:pPr marL="1371600" lvl="3" indent="0">
              <a:lnSpc>
                <a:spcPct val="80000"/>
              </a:lnSpc>
              <a:spcBef>
                <a:spcPts val="1000"/>
              </a:spcBef>
              <a:spcAft>
                <a:spcPts val="0"/>
              </a:spcAft>
              <a:buNone/>
            </a:pPr>
            <a:r>
              <a:rPr lang="en-US" altLang="en-US" dirty="0"/>
              <a:t>Data Visualization</a:t>
            </a:r>
            <a:endParaRPr lang="en-US" altLang="en-US" dirty="0"/>
          </a:p>
          <a:p>
            <a:pPr lvl="3">
              <a:lnSpc>
                <a:spcPct val="80000"/>
              </a:lnSpc>
              <a:spcBef>
                <a:spcPts val="1000"/>
              </a:spcBef>
              <a:spcAft>
                <a:spcPts val="0"/>
              </a:spcAft>
            </a:pPr>
            <a:r>
              <a:rPr lang="en-US" altLang="en-US" dirty="0"/>
              <a:t>Matplotlib</a:t>
            </a:r>
            <a:endParaRPr lang="en-US" altLang="en-US" dirty="0"/>
          </a:p>
          <a:p>
            <a:pPr lvl="3">
              <a:lnSpc>
                <a:spcPct val="80000"/>
              </a:lnSpc>
              <a:spcBef>
                <a:spcPts val="1000"/>
              </a:spcBef>
              <a:spcAft>
                <a:spcPts val="0"/>
              </a:spcAft>
            </a:pPr>
            <a:r>
              <a:rPr lang="en-US" altLang="en-US" dirty="0"/>
              <a:t>Seaborn</a:t>
            </a:r>
            <a:endParaRPr lang="en-US" altLang="en-US" dirty="0"/>
          </a:p>
          <a:p>
            <a:pPr marL="1371600" lvl="3" indent="0">
              <a:lnSpc>
                <a:spcPct val="80000"/>
              </a:lnSpc>
              <a:spcBef>
                <a:spcPts val="1000"/>
              </a:spcBef>
              <a:spcAft>
                <a:spcPts val="0"/>
              </a:spcAft>
              <a:buNone/>
            </a:pPr>
            <a:r>
              <a:rPr lang="en-US" altLang="en-US" dirty="0"/>
              <a:t>Statistical Analysis</a:t>
            </a:r>
            <a:endParaRPr lang="en-US" altLang="en-US" dirty="0"/>
          </a:p>
          <a:p>
            <a:pPr lvl="3">
              <a:lnSpc>
                <a:spcPct val="80000"/>
              </a:lnSpc>
              <a:spcBef>
                <a:spcPts val="1000"/>
              </a:spcBef>
              <a:spcAft>
                <a:spcPts val="0"/>
              </a:spcAft>
            </a:pPr>
            <a:r>
              <a:rPr lang="en-US" altLang="en-US" dirty="0"/>
              <a:t>SciPy</a:t>
            </a:r>
            <a:endParaRPr lang="en-US" altLang="en-US" dirty="0"/>
          </a:p>
          <a:p>
            <a:pPr marL="1371600" lvl="3" indent="0">
              <a:lnSpc>
                <a:spcPct val="80000"/>
              </a:lnSpc>
              <a:buNone/>
            </a:pPr>
            <a:r>
              <a:rPr lang="en-US" altLang="en-US" dirty="0"/>
              <a:t>Data Analysis Techniques</a:t>
            </a:r>
            <a:endParaRPr lang="en-US" altLang="en-US" dirty="0"/>
          </a:p>
          <a:p>
            <a:pPr lvl="3">
              <a:lnSpc>
                <a:spcPct val="80000"/>
              </a:lnSpc>
            </a:pPr>
            <a:r>
              <a:rPr lang="en-US" altLang="en-US" dirty="0"/>
              <a:t>Descriptive Statistics</a:t>
            </a:r>
            <a:endParaRPr lang="en-US" altLang="en-US" dirty="0"/>
          </a:p>
          <a:p>
            <a:pPr lvl="3">
              <a:lnSpc>
                <a:spcPct val="80000"/>
              </a:lnSpc>
            </a:pPr>
            <a:r>
              <a:rPr lang="en-US" altLang="en-US" dirty="0"/>
              <a:t>GroupBy Analysis</a:t>
            </a:r>
            <a:endParaRPr lang="en-US" altLang="en-US" dirty="0"/>
          </a:p>
          <a:p>
            <a:pPr lvl="3">
              <a:lnSpc>
                <a:spcPct val="80000"/>
              </a:lnSpc>
            </a:pPr>
            <a:r>
              <a:rPr lang="en-US" altLang="en-US" dirty="0"/>
              <a:t>Correlation Analysis</a:t>
            </a:r>
            <a:endParaRPr lang="en-US" altLang="en-US" dirty="0"/>
          </a:p>
          <a:p>
            <a:pPr lvl="3">
              <a:lnSpc>
                <a:spcPct val="80000"/>
              </a:lnSpc>
            </a:pPr>
            <a:r>
              <a:rPr lang="en-US" altLang="en-US" dirty="0"/>
              <a:t>ANOVA</a:t>
            </a:r>
            <a:endParaRPr lang="en-US" altLang="en-US" dirty="0"/>
          </a:p>
          <a:p>
            <a:pPr lvl="3">
              <a:lnSpc>
                <a:spcPct val="80000"/>
              </a:lnSpc>
            </a:pPr>
            <a:r>
              <a:rPr lang="en-US" altLang="en-US" dirty="0"/>
              <a:t>Chi-Square Test</a:t>
            </a:r>
            <a:endParaRPr lang="en-US" altLang="en-US" dirty="0"/>
          </a:p>
          <a:p>
            <a:pPr lvl="3">
              <a:lnSpc>
                <a:spcPct val="80000"/>
              </a:lnSpc>
            </a:pPr>
            <a:r>
              <a:rPr lang="en-US" altLang="en-US" dirty="0"/>
              <a:t>IQR Outlier Detection</a:t>
            </a:r>
            <a:endParaRPr lang="en-US" altLang="en-US" dirty="0"/>
          </a:p>
        </p:txBody>
      </p:sp>
      <p:sp>
        <p:nvSpPr>
          <p:cNvPr id="9" name="Title 8"/>
          <p:cNvSpPr>
            <a:spLocks noGrp="1"/>
          </p:cNvSpPr>
          <p:nvPr>
            <p:ph type="title"/>
          </p:nvPr>
        </p:nvSpPr>
        <p:spPr>
          <a:xfrm>
            <a:off x="660400" y="430530"/>
            <a:ext cx="8757285" cy="847725"/>
          </a:xfrm>
        </p:spPr>
        <p:txBody>
          <a:bodyPr>
            <a:normAutofit/>
          </a:bodyPr>
          <a:lstStyle/>
          <a:p>
            <a:r>
              <a:rPr lang="en-IN" altLang="en-US" dirty="0"/>
              <a:t>		 </a:t>
            </a:r>
            <a:r>
              <a:rPr lang="en-US" dirty="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anim calcmode="lin" valueType="num">
                                      <p:cBhvr>
                                        <p:cTn id="2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anim calcmode="lin" valueType="num">
                                      <p:cBhvr>
                                        <p:cTn id="3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fade">
                                      <p:cBhvr>
                                        <p:cTn id="34" dur="1000"/>
                                        <p:tgtEl>
                                          <p:spTgt spid="7">
                                            <p:txEl>
                                              <p:pRg st="5" end="5"/>
                                            </p:txEl>
                                          </p:spTgt>
                                        </p:tgtEl>
                                      </p:cBhvr>
                                    </p:animEffect>
                                    <p:anim calcmode="lin" valueType="num">
                                      <p:cBhvr>
                                        <p:cTn id="3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animEffect transition="in" filter="fade">
                                      <p:cBhvr>
                                        <p:cTn id="39" dur="1000"/>
                                        <p:tgtEl>
                                          <p:spTgt spid="7">
                                            <p:txEl>
                                              <p:pRg st="6" end="6"/>
                                            </p:txEl>
                                          </p:spTgt>
                                        </p:tgtEl>
                                      </p:cBhvr>
                                    </p:animEffect>
                                    <p:anim calcmode="lin" valueType="num">
                                      <p:cBhvr>
                                        <p:cTn id="4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7" end="7"/>
                                            </p:txEl>
                                          </p:spTgt>
                                        </p:tgtEl>
                                        <p:attrNameLst>
                                          <p:attrName>style.visibility</p:attrName>
                                        </p:attrNameLst>
                                      </p:cBhvr>
                                      <p:to>
                                        <p:strVal val="visible"/>
                                      </p:to>
                                    </p:set>
                                    <p:animEffect transition="in" filter="fade">
                                      <p:cBhvr>
                                        <p:cTn id="44" dur="1000"/>
                                        <p:tgtEl>
                                          <p:spTgt spid="7">
                                            <p:txEl>
                                              <p:pRg st="7" end="7"/>
                                            </p:txEl>
                                          </p:spTgt>
                                        </p:tgtEl>
                                      </p:cBhvr>
                                    </p:animEffect>
                                    <p:anim calcmode="lin" valueType="num">
                                      <p:cBhvr>
                                        <p:cTn id="45"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8" end="8"/>
                                            </p:txEl>
                                          </p:spTgt>
                                        </p:tgtEl>
                                        <p:attrNameLst>
                                          <p:attrName>style.visibility</p:attrName>
                                        </p:attrNameLst>
                                      </p:cBhvr>
                                      <p:to>
                                        <p:strVal val="visible"/>
                                      </p:to>
                                    </p:set>
                                    <p:animEffect transition="in" filter="fade">
                                      <p:cBhvr>
                                        <p:cTn id="49" dur="1000"/>
                                        <p:tgtEl>
                                          <p:spTgt spid="7">
                                            <p:txEl>
                                              <p:pRg st="8" end="8"/>
                                            </p:txEl>
                                          </p:spTgt>
                                        </p:tgtEl>
                                      </p:cBhvr>
                                    </p:animEffect>
                                    <p:anim calcmode="lin" valueType="num">
                                      <p:cBhvr>
                                        <p:cTn id="5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9" end="9"/>
                                            </p:txEl>
                                          </p:spTgt>
                                        </p:tgtEl>
                                        <p:attrNameLst>
                                          <p:attrName>style.visibility</p:attrName>
                                        </p:attrNameLst>
                                      </p:cBhvr>
                                      <p:to>
                                        <p:strVal val="visible"/>
                                      </p:to>
                                    </p:set>
                                    <p:animEffect transition="in" filter="fade">
                                      <p:cBhvr>
                                        <p:cTn id="54" dur="1000"/>
                                        <p:tgtEl>
                                          <p:spTgt spid="7">
                                            <p:txEl>
                                              <p:pRg st="9" end="9"/>
                                            </p:txEl>
                                          </p:spTgt>
                                        </p:tgtEl>
                                      </p:cBhvr>
                                    </p:animEffect>
                                    <p:anim calcmode="lin" valueType="num">
                                      <p:cBhvr>
                                        <p:cTn id="55"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9" end="9"/>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7">
                                            <p:txEl>
                                              <p:pRg st="10" end="10"/>
                                            </p:txEl>
                                          </p:spTgt>
                                        </p:tgtEl>
                                        <p:attrNameLst>
                                          <p:attrName>style.visibility</p:attrName>
                                        </p:attrNameLst>
                                      </p:cBhvr>
                                      <p:to>
                                        <p:strVal val="visible"/>
                                      </p:to>
                                    </p:set>
                                    <p:animEffect transition="in" filter="fade">
                                      <p:cBhvr>
                                        <p:cTn id="59" dur="1000"/>
                                        <p:tgtEl>
                                          <p:spTgt spid="7">
                                            <p:txEl>
                                              <p:pRg st="10" end="10"/>
                                            </p:txEl>
                                          </p:spTgt>
                                        </p:tgtEl>
                                      </p:cBhvr>
                                    </p:animEffect>
                                    <p:anim calcmode="lin" valueType="num">
                                      <p:cBhvr>
                                        <p:cTn id="6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7">
                                            <p:txEl>
                                              <p:pRg st="11" end="11"/>
                                            </p:txEl>
                                          </p:spTgt>
                                        </p:tgtEl>
                                        <p:attrNameLst>
                                          <p:attrName>style.visibility</p:attrName>
                                        </p:attrNameLst>
                                      </p:cBhvr>
                                      <p:to>
                                        <p:strVal val="visible"/>
                                      </p:to>
                                    </p:set>
                                    <p:animEffect transition="in" filter="fade">
                                      <p:cBhvr>
                                        <p:cTn id="64" dur="1000"/>
                                        <p:tgtEl>
                                          <p:spTgt spid="7">
                                            <p:txEl>
                                              <p:pRg st="11" end="11"/>
                                            </p:txEl>
                                          </p:spTgt>
                                        </p:tgtEl>
                                      </p:cBhvr>
                                    </p:animEffect>
                                    <p:anim calcmode="lin" valueType="num">
                                      <p:cBhvr>
                                        <p:cTn id="65"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7">
                                            <p:txEl>
                                              <p:pRg st="12" end="12"/>
                                            </p:txEl>
                                          </p:spTgt>
                                        </p:tgtEl>
                                        <p:attrNameLst>
                                          <p:attrName>style.visibility</p:attrName>
                                        </p:attrNameLst>
                                      </p:cBhvr>
                                      <p:to>
                                        <p:strVal val="visible"/>
                                      </p:to>
                                    </p:set>
                                    <p:animEffect transition="in" filter="fade">
                                      <p:cBhvr>
                                        <p:cTn id="69" dur="1000"/>
                                        <p:tgtEl>
                                          <p:spTgt spid="7">
                                            <p:txEl>
                                              <p:pRg st="12" end="12"/>
                                            </p:txEl>
                                          </p:spTgt>
                                        </p:tgtEl>
                                      </p:cBhvr>
                                    </p:animEffect>
                                    <p:anim calcmode="lin" valueType="num">
                                      <p:cBhvr>
                                        <p:cTn id="7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71"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7">
                                            <p:txEl>
                                              <p:pRg st="13" end="13"/>
                                            </p:txEl>
                                          </p:spTgt>
                                        </p:tgtEl>
                                        <p:attrNameLst>
                                          <p:attrName>style.visibility</p:attrName>
                                        </p:attrNameLst>
                                      </p:cBhvr>
                                      <p:to>
                                        <p:strVal val="visible"/>
                                      </p:to>
                                    </p:set>
                                    <p:animEffect transition="in" filter="fade">
                                      <p:cBhvr>
                                        <p:cTn id="74" dur="1000"/>
                                        <p:tgtEl>
                                          <p:spTgt spid="7">
                                            <p:txEl>
                                              <p:pRg st="13" end="13"/>
                                            </p:txEl>
                                          </p:spTgt>
                                        </p:tgtEl>
                                      </p:cBhvr>
                                    </p:animEffect>
                                    <p:anim calcmode="lin" valueType="num">
                                      <p:cBhvr>
                                        <p:cTn id="75"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76"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7">
                                            <p:txEl>
                                              <p:pRg st="14" end="14"/>
                                            </p:txEl>
                                          </p:spTgt>
                                        </p:tgtEl>
                                        <p:attrNameLst>
                                          <p:attrName>style.visibility</p:attrName>
                                        </p:attrNameLst>
                                      </p:cBhvr>
                                      <p:to>
                                        <p:strVal val="visible"/>
                                      </p:to>
                                    </p:set>
                                    <p:animEffect transition="in" filter="fade">
                                      <p:cBhvr>
                                        <p:cTn id="79" dur="1000"/>
                                        <p:tgtEl>
                                          <p:spTgt spid="7">
                                            <p:txEl>
                                              <p:pRg st="14" end="14"/>
                                            </p:txEl>
                                          </p:spTgt>
                                        </p:tgtEl>
                                      </p:cBhvr>
                                    </p:animEffect>
                                    <p:anim calcmode="lin" valueType="num">
                                      <p:cBhvr>
                                        <p:cTn id="80"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81" dur="1000" fill="hold"/>
                                        <p:tgtEl>
                                          <p:spTgt spid="7">
                                            <p:txEl>
                                              <p:pRg st="14" end="14"/>
                                            </p:txEl>
                                          </p:spTgt>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7">
                                            <p:txEl>
                                              <p:pRg st="15" end="15"/>
                                            </p:txEl>
                                          </p:spTgt>
                                        </p:tgtEl>
                                        <p:attrNameLst>
                                          <p:attrName>style.visibility</p:attrName>
                                        </p:attrNameLst>
                                      </p:cBhvr>
                                      <p:to>
                                        <p:strVal val="visible"/>
                                      </p:to>
                                    </p:set>
                                    <p:animEffect transition="in" filter="fade">
                                      <p:cBhvr>
                                        <p:cTn id="84" dur="1000"/>
                                        <p:tgtEl>
                                          <p:spTgt spid="7">
                                            <p:txEl>
                                              <p:pRg st="15" end="15"/>
                                            </p:txEl>
                                          </p:spTgt>
                                        </p:tgtEl>
                                      </p:cBhvr>
                                    </p:animEffect>
                                    <p:anim calcmode="lin" valueType="num">
                                      <p:cBhvr>
                                        <p:cTn id="85"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5" end="15"/>
                                            </p:txEl>
                                          </p:spTgt>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7">
                                            <p:txEl>
                                              <p:pRg st="16" end="16"/>
                                            </p:txEl>
                                          </p:spTgt>
                                        </p:tgtEl>
                                        <p:attrNameLst>
                                          <p:attrName>style.visibility</p:attrName>
                                        </p:attrNameLst>
                                      </p:cBhvr>
                                      <p:to>
                                        <p:strVal val="visible"/>
                                      </p:to>
                                    </p:set>
                                    <p:animEffect transition="in" filter="fade">
                                      <p:cBhvr>
                                        <p:cTn id="89" dur="1000"/>
                                        <p:tgtEl>
                                          <p:spTgt spid="7">
                                            <p:txEl>
                                              <p:pRg st="16" end="16"/>
                                            </p:txEl>
                                          </p:spTgt>
                                        </p:tgtEl>
                                      </p:cBhvr>
                                    </p:animEffect>
                                    <p:anim calcmode="lin" valueType="num">
                                      <p:cBhvr>
                                        <p:cTn id="90"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91" dur="1000" fill="hold"/>
                                        <p:tgtEl>
                                          <p:spTgt spid="7">
                                            <p:txEl>
                                              <p:pRg st="16" end="16"/>
                                            </p:txEl>
                                          </p:spTgt>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7">
                                            <p:txEl>
                                              <p:pRg st="17" end="17"/>
                                            </p:txEl>
                                          </p:spTgt>
                                        </p:tgtEl>
                                        <p:attrNameLst>
                                          <p:attrName>style.visibility</p:attrName>
                                        </p:attrNameLst>
                                      </p:cBhvr>
                                      <p:to>
                                        <p:strVal val="visible"/>
                                      </p:to>
                                    </p:set>
                                    <p:animEffect transition="in" filter="fade">
                                      <p:cBhvr>
                                        <p:cTn id="94" dur="1000"/>
                                        <p:tgtEl>
                                          <p:spTgt spid="7">
                                            <p:txEl>
                                              <p:pRg st="17" end="17"/>
                                            </p:txEl>
                                          </p:spTgt>
                                        </p:tgtEl>
                                      </p:cBhvr>
                                    </p:animEffect>
                                    <p:anim calcmode="lin" valueType="num">
                                      <p:cBhvr>
                                        <p:cTn id="95" dur="1000" fill="hold"/>
                                        <p:tgtEl>
                                          <p:spTgt spid="7">
                                            <p:txEl>
                                              <p:pRg st="17" end="17"/>
                                            </p:txEl>
                                          </p:spTgt>
                                        </p:tgtEl>
                                        <p:attrNameLst>
                                          <p:attrName>ppt_x</p:attrName>
                                        </p:attrNameLst>
                                      </p:cBhvr>
                                      <p:tavLst>
                                        <p:tav tm="0">
                                          <p:val>
                                            <p:strVal val="#ppt_x"/>
                                          </p:val>
                                        </p:tav>
                                        <p:tav tm="100000">
                                          <p:val>
                                            <p:strVal val="#ppt_x"/>
                                          </p:val>
                                        </p:tav>
                                      </p:tavLst>
                                    </p:anim>
                                    <p:anim calcmode="lin" valueType="num">
                                      <p:cBhvr>
                                        <p:cTn id="96" dur="1000" fill="hold"/>
                                        <p:tgtEl>
                                          <p:spTgt spid="7">
                                            <p:txEl>
                                              <p:pRg st="17" end="17"/>
                                            </p:txEl>
                                          </p:spTgt>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7">
                                            <p:txEl>
                                              <p:pRg st="18" end="18"/>
                                            </p:txEl>
                                          </p:spTgt>
                                        </p:tgtEl>
                                        <p:attrNameLst>
                                          <p:attrName>style.visibility</p:attrName>
                                        </p:attrNameLst>
                                      </p:cBhvr>
                                      <p:to>
                                        <p:strVal val="visible"/>
                                      </p:to>
                                    </p:set>
                                    <p:animEffect transition="in" filter="fade">
                                      <p:cBhvr>
                                        <p:cTn id="99" dur="1000"/>
                                        <p:tgtEl>
                                          <p:spTgt spid="7">
                                            <p:txEl>
                                              <p:pRg st="18" end="18"/>
                                            </p:txEl>
                                          </p:spTgt>
                                        </p:tgtEl>
                                      </p:cBhvr>
                                    </p:animEffect>
                                    <p:anim calcmode="lin" valueType="num">
                                      <p:cBhvr>
                                        <p:cTn id="100" dur="1000" fill="hold"/>
                                        <p:tgtEl>
                                          <p:spTgt spid="7">
                                            <p:txEl>
                                              <p:pRg st="18" end="18"/>
                                            </p:txEl>
                                          </p:spTgt>
                                        </p:tgtEl>
                                        <p:attrNameLst>
                                          <p:attrName>ppt_x</p:attrName>
                                        </p:attrNameLst>
                                      </p:cBhvr>
                                      <p:tavLst>
                                        <p:tav tm="0">
                                          <p:val>
                                            <p:strVal val="#ppt_x"/>
                                          </p:val>
                                        </p:tav>
                                        <p:tav tm="100000">
                                          <p:val>
                                            <p:strVal val="#ppt_x"/>
                                          </p:val>
                                        </p:tav>
                                      </p:tavLst>
                                    </p:anim>
                                    <p:anim calcmode="lin" valueType="num">
                                      <p:cBhvr>
                                        <p:cTn id="101" dur="1000" fill="hold"/>
                                        <p:tgtEl>
                                          <p:spTgt spid="7">
                                            <p:txEl>
                                              <p:pRg st="18" end="18"/>
                                            </p:txEl>
                                          </p:spTgt>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7">
                                            <p:txEl>
                                              <p:pRg st="19" end="19"/>
                                            </p:txEl>
                                          </p:spTgt>
                                        </p:tgtEl>
                                        <p:attrNameLst>
                                          <p:attrName>style.visibility</p:attrName>
                                        </p:attrNameLst>
                                      </p:cBhvr>
                                      <p:to>
                                        <p:strVal val="visible"/>
                                      </p:to>
                                    </p:set>
                                    <p:animEffect transition="in" filter="fade">
                                      <p:cBhvr>
                                        <p:cTn id="104" dur="1000"/>
                                        <p:tgtEl>
                                          <p:spTgt spid="7">
                                            <p:txEl>
                                              <p:pRg st="19" end="19"/>
                                            </p:txEl>
                                          </p:spTgt>
                                        </p:tgtEl>
                                      </p:cBhvr>
                                    </p:animEffect>
                                    <p:anim calcmode="lin" valueType="num">
                                      <p:cBhvr>
                                        <p:cTn id="105" dur="1000" fill="hold"/>
                                        <p:tgtEl>
                                          <p:spTgt spid="7">
                                            <p:txEl>
                                              <p:pRg st="19" end="19"/>
                                            </p:txEl>
                                          </p:spTgt>
                                        </p:tgtEl>
                                        <p:attrNameLst>
                                          <p:attrName>ppt_x</p:attrName>
                                        </p:attrNameLst>
                                      </p:cBhvr>
                                      <p:tavLst>
                                        <p:tav tm="0">
                                          <p:val>
                                            <p:strVal val="#ppt_x"/>
                                          </p:val>
                                        </p:tav>
                                        <p:tav tm="100000">
                                          <p:val>
                                            <p:strVal val="#ppt_x"/>
                                          </p:val>
                                        </p:tav>
                                      </p:tavLst>
                                    </p:anim>
                                    <p:anim calcmode="lin" valueType="num">
                                      <p:cBhvr>
                                        <p:cTn id="106" dur="1000" fill="hold"/>
                                        <p:tgtEl>
                                          <p:spTgt spid="7">
                                            <p:txEl>
                                              <p:pRg st="19" end="1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676275" y="1275080"/>
            <a:ext cx="7012940" cy="66611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132608"/>
            <a:ext cx="4275138" cy="477520"/>
          </a:xfrm>
        </p:spPr>
        <p:txBody>
          <a:bodyPr vert="horz" lIns="91440" tIns="45720" rIns="91440" bIns="45720" rtlCol="0" anchor="t">
            <a:normAutofit/>
          </a:bodyPr>
          <a:lstStyle/>
          <a:p>
            <a:pPr marL="0" indent="0">
              <a:buNone/>
            </a:pPr>
            <a:r>
              <a:rPr lang="en-US" altLang="en-US" dirty="0"/>
              <a:t>Seasonal Agricultural Performance</a:t>
            </a:r>
            <a:endParaRPr lang="en-US" altLang="en-US" dirty="0"/>
          </a:p>
        </p:txBody>
      </p:sp>
      <p:sp>
        <p:nvSpPr>
          <p:cNvPr id="2" name="Text Box 1"/>
          <p:cNvSpPr txBox="1"/>
          <p:nvPr/>
        </p:nvSpPr>
        <p:spPr>
          <a:xfrm>
            <a:off x="807085" y="1609725"/>
            <a:ext cx="8971280" cy="5248910"/>
          </a:xfrm>
          <a:prstGeom prst="rect">
            <a:avLst/>
          </a:prstGeom>
          <a:noFill/>
        </p:spPr>
        <p:txBody>
          <a:bodyPr wrap="square" rtlCol="0">
            <a:noAutofit/>
          </a:bodyPr>
          <a:p>
            <a:r>
              <a:rPr lang="en-US" altLang="en-US"/>
              <a:t>season_summary = df_clean.groupby('Season').agg(</a:t>
            </a:r>
            <a:endParaRPr lang="en-US" altLang="en-US"/>
          </a:p>
          <a:p>
            <a:r>
              <a:rPr lang="en-US" altLang="en-US"/>
              <a:t>    Average_Yield=('Yield_Tonnes_Ha', 'mean'),</a:t>
            </a:r>
            <a:endParaRPr lang="en-US" altLang="en-US"/>
          </a:p>
          <a:p>
            <a:r>
              <a:rPr lang="en-US" altLang="en-US"/>
              <a:t>    Average_Production=('Production_Tonnes', 'mean'),</a:t>
            </a:r>
            <a:endParaRPr lang="en-US" altLang="en-US"/>
          </a:p>
          <a:p>
            <a:r>
              <a:rPr lang="en-US" altLang="en-US"/>
              <a:t>    Average_Revenue=('Revenue_INR', 'mean'),</a:t>
            </a:r>
            <a:endParaRPr lang="en-US" altLang="en-US"/>
          </a:p>
          <a:p>
            <a:r>
              <a:rPr lang="en-US" altLang="en-US"/>
              <a:t>    Average_Cost=('Total_Cost_INR', 'mean'),</a:t>
            </a:r>
            <a:endParaRPr lang="en-US" altLang="en-US"/>
          </a:p>
          <a:p>
            <a:r>
              <a:rPr lang="en-US" altLang="en-US"/>
              <a:t>    Average_Profit=('Profit_INR', 'mean'),</a:t>
            </a:r>
            <a:endParaRPr lang="en-US" altLang="en-US"/>
          </a:p>
          <a:p>
            <a:r>
              <a:rPr lang="en-US" altLang="en-US"/>
              <a:t>    Average_Water_Used=('Water_Used_m3', 'mean')</a:t>
            </a:r>
            <a:endParaRPr lang="en-US" altLang="en-US"/>
          </a:p>
          <a:p>
            <a:r>
              <a:rPr lang="en-US" altLang="en-US"/>
              <a:t>)</a:t>
            </a:r>
            <a:endParaRPr lang="en-US" altLang="en-US"/>
          </a:p>
          <a:p>
            <a:endParaRPr lang="en-US" altLang="en-US"/>
          </a:p>
          <a:p>
            <a:r>
              <a:rPr lang="en-US" altLang="en-US"/>
              <a:t>season_summary</a:t>
            </a:r>
            <a:endParaRPr lang="en-US"/>
          </a:p>
          <a:p>
            <a:endParaRPr lang="en-US" altLang="en-US"/>
          </a:p>
        </p:txBody>
      </p:sp>
      <p:pic>
        <p:nvPicPr>
          <p:cNvPr id="3" name="Picture 2"/>
          <p:cNvPicPr>
            <a:picLocks noChangeAspect="1"/>
          </p:cNvPicPr>
          <p:nvPr/>
        </p:nvPicPr>
        <p:blipFill>
          <a:blip r:embed="rId2"/>
          <a:stretch>
            <a:fillRect/>
          </a:stretch>
        </p:blipFill>
        <p:spPr>
          <a:xfrm>
            <a:off x="806450" y="4444365"/>
            <a:ext cx="8971280" cy="15595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807085" y="1752600"/>
            <a:ext cx="9834880" cy="506603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en-US" sz="2000" dirty="0"/>
              <a:t> </a:t>
            </a:r>
            <a:endParaRPr lang="en-GB" sz="2000" dirty="0"/>
          </a:p>
        </p:txBody>
      </p:sp>
      <p:sp>
        <p:nvSpPr>
          <p:cNvPr id="10" name="Text Placeholder 1"/>
          <p:cNvSpPr>
            <a:spLocks noGrp="1"/>
          </p:cNvSpPr>
          <p:nvPr>
            <p:ph type="body" sz="quarter" idx="12"/>
          </p:nvPr>
        </p:nvSpPr>
        <p:spPr>
          <a:xfrm>
            <a:off x="675719" y="1238018"/>
            <a:ext cx="4275138" cy="477520"/>
          </a:xfrm>
        </p:spPr>
        <p:txBody>
          <a:bodyPr/>
          <a:lstStyle/>
          <a:p>
            <a:pPr marL="0" indent="0">
              <a:buNone/>
            </a:pPr>
            <a:r>
              <a:rPr lang="en-US" altLang="en-US" dirty="0"/>
              <a:t>Environmental Analysis</a:t>
            </a:r>
            <a:endParaRPr lang="en-US" altLang="en-US" dirty="0"/>
          </a:p>
        </p:txBody>
      </p:sp>
      <p:pic>
        <p:nvPicPr>
          <p:cNvPr id="2" name="Picture 1"/>
          <p:cNvPicPr>
            <a:picLocks noChangeAspect="1"/>
          </p:cNvPicPr>
          <p:nvPr/>
        </p:nvPicPr>
        <p:blipFill>
          <a:blip r:embed="rId2"/>
          <a:stretch>
            <a:fillRect/>
          </a:stretch>
        </p:blipFill>
        <p:spPr>
          <a:xfrm>
            <a:off x="807085" y="2271395"/>
            <a:ext cx="5036820" cy="3436620"/>
          </a:xfrm>
          <a:prstGeom prst="rect">
            <a:avLst/>
          </a:prstGeom>
        </p:spPr>
      </p:pic>
      <p:sp>
        <p:nvSpPr>
          <p:cNvPr id="3" name="Text Box 2"/>
          <p:cNvSpPr txBox="1"/>
          <p:nvPr/>
        </p:nvSpPr>
        <p:spPr>
          <a:xfrm>
            <a:off x="6193790" y="2117725"/>
            <a:ext cx="4449445" cy="3589655"/>
          </a:xfrm>
          <a:prstGeom prst="rect">
            <a:avLst/>
          </a:prstGeom>
          <a:noFill/>
        </p:spPr>
        <p:txBody>
          <a:bodyPr wrap="square" rtlCol="0">
            <a:noAutofit/>
          </a:bodyPr>
          <a:p>
            <a:pPr>
              <a:lnSpc>
                <a:spcPct val="90000"/>
              </a:lnSpc>
            </a:pPr>
            <a:r>
              <a:rPr lang="en-US" altLang="en-US"/>
              <a:t>Kharif received the highest average rainfall: 849.20 mm </a:t>
            </a:r>
            <a:endParaRPr lang="en-US" altLang="en-US"/>
          </a:p>
          <a:p>
            <a:pPr>
              <a:lnSpc>
                <a:spcPct val="90000"/>
              </a:lnSpc>
            </a:pPr>
            <a:endParaRPr lang="en-US" altLang="en-US"/>
          </a:p>
          <a:p>
            <a:pPr>
              <a:lnSpc>
                <a:spcPct val="90000"/>
              </a:lnSpc>
            </a:pPr>
            <a:r>
              <a:rPr lang="en-US" altLang="en-US"/>
              <a:t> Rabi: 437.02 mm </a:t>
            </a:r>
            <a:endParaRPr lang="en-US" altLang="en-US"/>
          </a:p>
          <a:p>
            <a:pPr>
              <a:lnSpc>
                <a:spcPct val="90000"/>
              </a:lnSpc>
            </a:pPr>
            <a:endParaRPr lang="en-US" altLang="en-US"/>
          </a:p>
          <a:p>
            <a:pPr>
              <a:lnSpc>
                <a:spcPct val="90000"/>
              </a:lnSpc>
            </a:pPr>
            <a:r>
              <a:rPr lang="en-US" altLang="en-US"/>
              <a:t> Zaid: 304.65 mm </a:t>
            </a:r>
            <a:endParaRPr lang="en-US" altLang="en-US"/>
          </a:p>
          <a:p>
            <a:pPr>
              <a:lnSpc>
                <a:spcPct val="90000"/>
              </a:lnSpc>
            </a:pPr>
            <a:endParaRPr lang="en-US" altLang="en-US"/>
          </a:p>
          <a:p>
            <a:pPr>
              <a:lnSpc>
                <a:spcPct val="90000"/>
              </a:lnSpc>
            </a:pPr>
            <a:r>
              <a:rPr lang="en-US" altLang="en-US"/>
              <a:t> Kharif also showed the highest average soil moisture and humidity. </a:t>
            </a:r>
            <a:endParaRPr lang="en-US" altLang="en-US"/>
          </a:p>
          <a:p>
            <a:pPr>
              <a:lnSpc>
                <a:spcPct val="90000"/>
              </a:lnSpc>
            </a:pPr>
            <a:endParaRPr lang="en-US" altLang="en-US"/>
          </a:p>
          <a:p>
            <a:pPr>
              <a:lnSpc>
                <a:spcPct val="90000"/>
              </a:lnSpc>
            </a:pPr>
            <a:r>
              <a:rPr lang="en-US" altLang="en-US"/>
              <a:t> Zaid recorded the highest average temperature.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6096000" y="1846580"/>
            <a:ext cx="5147945" cy="3912235"/>
          </a:xfrm>
          <a:prstGeom prst="rect">
            <a:avLst/>
          </a:prstGeom>
        </p:spPr>
        <p:txBody>
          <a:bodyPr vert="horz" lIns="91440" tIns="45720" rIns="91440" bIns="45720" rtlCol="0">
            <a:normAutofit fontScale="90000" lnSpcReduction="2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a:lnSpc>
                <a:spcPct val="50000"/>
              </a:lnSpc>
            </a:pPr>
            <a:r>
              <a:rPr lang="en-US" altLang="en-US" sz="2000" dirty="0"/>
              <a:t>Key Findings</a:t>
            </a:r>
            <a:endParaRPr lang="en-US" altLang="en-US" sz="2000" dirty="0"/>
          </a:p>
          <a:p>
            <a:pPr>
              <a:lnSpc>
                <a:spcPct val="50000"/>
              </a:lnSpc>
            </a:pPr>
            <a:endParaRPr lang="en-US" altLang="en-US" sz="2000" dirty="0"/>
          </a:p>
          <a:p>
            <a:pPr>
              <a:lnSpc>
                <a:spcPct val="100000"/>
              </a:lnSpc>
            </a:pPr>
            <a:r>
              <a:rPr lang="en-US" altLang="en-US" sz="2000" dirty="0"/>
              <a:t> Sugarcane recorded the highest average yield. </a:t>
            </a:r>
            <a:endParaRPr lang="en-US" altLang="en-US" sz="2000" dirty="0"/>
          </a:p>
          <a:p>
            <a:pPr>
              <a:lnSpc>
                <a:spcPct val="100000"/>
              </a:lnSpc>
            </a:pPr>
            <a:endParaRPr lang="en-US" altLang="en-US" sz="2000" dirty="0"/>
          </a:p>
          <a:p>
            <a:pPr>
              <a:lnSpc>
                <a:spcPct val="100000"/>
              </a:lnSpc>
            </a:pPr>
            <a:r>
              <a:rPr lang="en-US" altLang="en-US" sz="2000" dirty="0"/>
              <a:t> Kharif generally showed higher crop yields than Rabi and Zaid. </a:t>
            </a:r>
            <a:endParaRPr lang="en-US" altLang="en-US" sz="2000" dirty="0"/>
          </a:p>
          <a:p>
            <a:pPr>
              <a:lnSpc>
                <a:spcPct val="100000"/>
              </a:lnSpc>
            </a:pPr>
            <a:endParaRPr lang="en-US" altLang="en-US" sz="2000" dirty="0"/>
          </a:p>
          <a:p>
            <a:pPr>
              <a:lnSpc>
                <a:spcPct val="100000"/>
              </a:lnSpc>
            </a:pPr>
            <a:r>
              <a:rPr lang="en-US" altLang="en-US" sz="2000" dirty="0"/>
              <a:t> Sugarcane maintained the highest yield across all three seasons. </a:t>
            </a:r>
            <a:endParaRPr lang="en-US" altLang="en-US" sz="2000" dirty="0"/>
          </a:p>
          <a:p>
            <a:pPr>
              <a:lnSpc>
                <a:spcPct val="100000"/>
              </a:lnSpc>
            </a:pPr>
            <a:endParaRPr lang="en-US" altLang="en-US" sz="2000" dirty="0"/>
          </a:p>
          <a:p>
            <a:pPr>
              <a:lnSpc>
                <a:spcPct val="100000"/>
              </a:lnSpc>
            </a:pPr>
            <a:r>
              <a:rPr lang="en-US" altLang="en-US" sz="2000" dirty="0"/>
              <a:t> Crop performance varies considerably by crop and season.</a:t>
            </a:r>
            <a:endParaRPr lang="en-GB" sz="2000" dirty="0"/>
          </a:p>
        </p:txBody>
      </p:sp>
      <p:sp>
        <p:nvSpPr>
          <p:cNvPr id="10" name="Text Placeholder 1"/>
          <p:cNvSpPr>
            <a:spLocks noGrp="1"/>
          </p:cNvSpPr>
          <p:nvPr>
            <p:ph type="body" sz="quarter" idx="12"/>
          </p:nvPr>
        </p:nvSpPr>
        <p:spPr>
          <a:xfrm>
            <a:off x="675719" y="1368828"/>
            <a:ext cx="4275138" cy="477520"/>
          </a:xfrm>
        </p:spPr>
        <p:txBody>
          <a:bodyPr/>
          <a:lstStyle/>
          <a:p>
            <a:pPr marL="0" indent="0">
              <a:buNone/>
            </a:pPr>
            <a:r>
              <a:rPr lang="en-US" altLang="en-US" dirty="0"/>
              <a:t>Crop Performance Across Seasons</a:t>
            </a:r>
            <a:endParaRPr lang="en-US" altLang="en-US" dirty="0"/>
          </a:p>
        </p:txBody>
      </p:sp>
      <p:pic>
        <p:nvPicPr>
          <p:cNvPr id="2" name="Picture 1"/>
          <p:cNvPicPr>
            <a:picLocks noChangeAspect="1"/>
          </p:cNvPicPr>
          <p:nvPr/>
        </p:nvPicPr>
        <p:blipFill>
          <a:blip r:embed="rId2"/>
          <a:stretch>
            <a:fillRect/>
          </a:stretch>
        </p:blipFill>
        <p:spPr>
          <a:xfrm>
            <a:off x="675640" y="2014855"/>
            <a:ext cx="5323205" cy="36328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675640" y="1679575"/>
            <a:ext cx="9952355" cy="498538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675719" y="1201188"/>
            <a:ext cx="4275138" cy="477520"/>
          </a:xfrm>
        </p:spPr>
        <p:txBody>
          <a:bodyPr/>
          <a:lstStyle/>
          <a:p>
            <a:pPr marL="0" indent="0">
              <a:buNone/>
            </a:pPr>
            <a:r>
              <a:rPr lang="en-US" altLang="en-US" dirty="0"/>
              <a:t>Resource &amp; Water Analysis</a:t>
            </a:r>
            <a:endParaRPr lang="en-US" altLang="en-US" dirty="0"/>
          </a:p>
        </p:txBody>
      </p:sp>
      <p:pic>
        <p:nvPicPr>
          <p:cNvPr id="2" name="Picture 1"/>
          <p:cNvPicPr>
            <a:picLocks noChangeAspect="1"/>
          </p:cNvPicPr>
          <p:nvPr/>
        </p:nvPicPr>
        <p:blipFill>
          <a:blip r:embed="rId2"/>
          <a:stretch>
            <a:fillRect/>
          </a:stretch>
        </p:blipFill>
        <p:spPr>
          <a:xfrm>
            <a:off x="749935" y="1818005"/>
            <a:ext cx="4201795" cy="3406140"/>
          </a:xfrm>
          <a:prstGeom prst="rect">
            <a:avLst/>
          </a:prstGeom>
        </p:spPr>
      </p:pic>
      <p:sp>
        <p:nvSpPr>
          <p:cNvPr id="3" name="Text Box 2"/>
          <p:cNvSpPr txBox="1"/>
          <p:nvPr/>
        </p:nvSpPr>
        <p:spPr>
          <a:xfrm>
            <a:off x="749935" y="5702300"/>
            <a:ext cx="4425315" cy="1060450"/>
          </a:xfrm>
          <a:prstGeom prst="rect">
            <a:avLst/>
          </a:prstGeom>
          <a:noFill/>
        </p:spPr>
        <p:txBody>
          <a:bodyPr wrap="square" rtlCol="0">
            <a:spAutoFit/>
          </a:bodyPr>
          <a:p>
            <a:pPr>
              <a:lnSpc>
                <a:spcPct val="50000"/>
              </a:lnSpc>
            </a:pPr>
            <a:r>
              <a:rPr lang="en-US" altLang="en-US"/>
              <a:t>Water Usage</a:t>
            </a:r>
            <a:endParaRPr lang="en-US" altLang="en-US"/>
          </a:p>
          <a:p>
            <a:pPr marL="285750" indent="-285750">
              <a:lnSpc>
                <a:spcPct val="50000"/>
              </a:lnSpc>
              <a:buFont typeface="Arial" panose="020B0604020202020204" pitchFamily="34" charset="0"/>
              <a:buChar char="•"/>
            </a:pPr>
            <a:endParaRPr lang="en-US" altLang="en-US"/>
          </a:p>
          <a:p>
            <a:pPr marL="285750" indent="-285750">
              <a:lnSpc>
                <a:spcPct val="50000"/>
              </a:lnSpc>
              <a:buFont typeface="Arial" panose="020B0604020202020204" pitchFamily="34" charset="0"/>
              <a:buChar char="•"/>
            </a:pPr>
            <a:r>
              <a:rPr lang="en-US" altLang="en-US"/>
              <a:t> Kharif: 6,102 m³ </a:t>
            </a:r>
            <a:endParaRPr lang="en-US" altLang="en-US"/>
          </a:p>
          <a:p>
            <a:pPr marL="285750" indent="-285750">
              <a:lnSpc>
                <a:spcPct val="50000"/>
              </a:lnSpc>
              <a:buFont typeface="Arial" panose="020B0604020202020204" pitchFamily="34" charset="0"/>
              <a:buChar char="•"/>
            </a:pPr>
            <a:endParaRPr lang="en-US" altLang="en-US"/>
          </a:p>
          <a:p>
            <a:pPr marL="285750" indent="-285750">
              <a:lnSpc>
                <a:spcPct val="50000"/>
              </a:lnSpc>
              <a:buFont typeface="Arial" panose="020B0604020202020204" pitchFamily="34" charset="0"/>
              <a:buChar char="•"/>
            </a:pPr>
            <a:r>
              <a:rPr lang="en-US" altLang="en-US"/>
              <a:t> Rabi: 5,847 m³ </a:t>
            </a:r>
            <a:endParaRPr lang="en-US" altLang="en-US"/>
          </a:p>
          <a:p>
            <a:pPr marL="285750" indent="-285750">
              <a:lnSpc>
                <a:spcPct val="50000"/>
              </a:lnSpc>
              <a:buFont typeface="Arial" panose="020B0604020202020204" pitchFamily="34" charset="0"/>
              <a:buChar char="•"/>
            </a:pPr>
            <a:endParaRPr lang="en-US" altLang="en-US"/>
          </a:p>
          <a:p>
            <a:pPr marL="285750" indent="-285750">
              <a:lnSpc>
                <a:spcPct val="50000"/>
              </a:lnSpc>
              <a:buFont typeface="Arial" panose="020B0604020202020204" pitchFamily="34" charset="0"/>
              <a:buChar char="•"/>
            </a:pPr>
            <a:r>
              <a:rPr lang="en-US" altLang="en-US"/>
              <a:t> Zaid: 6,420 m³</a:t>
            </a:r>
            <a:endParaRPr lang="en-US" altLang="en-US"/>
          </a:p>
        </p:txBody>
      </p:sp>
      <p:pic>
        <p:nvPicPr>
          <p:cNvPr id="6" name="Picture 5"/>
          <p:cNvPicPr>
            <a:picLocks noChangeAspect="1"/>
          </p:cNvPicPr>
          <p:nvPr/>
        </p:nvPicPr>
        <p:blipFill>
          <a:blip r:embed="rId3"/>
          <a:stretch>
            <a:fillRect/>
          </a:stretch>
        </p:blipFill>
        <p:spPr>
          <a:xfrm>
            <a:off x="5244465" y="1818005"/>
            <a:ext cx="4892040" cy="3406140"/>
          </a:xfrm>
          <a:prstGeom prst="rect">
            <a:avLst/>
          </a:prstGeom>
        </p:spPr>
      </p:pic>
      <p:sp>
        <p:nvSpPr>
          <p:cNvPr id="9" name="Text Box 8"/>
          <p:cNvSpPr txBox="1"/>
          <p:nvPr/>
        </p:nvSpPr>
        <p:spPr>
          <a:xfrm>
            <a:off x="5244465" y="5656580"/>
            <a:ext cx="4683760" cy="1106805"/>
          </a:xfrm>
          <a:prstGeom prst="rect">
            <a:avLst/>
          </a:prstGeom>
          <a:noFill/>
        </p:spPr>
        <p:txBody>
          <a:bodyPr wrap="square" rtlCol="0">
            <a:noAutofit/>
          </a:bodyPr>
          <a:p>
            <a:r>
              <a:rPr lang="en-US" altLang="en-US"/>
              <a:t>Water Efficiency</a:t>
            </a:r>
            <a:endParaRPr lang="en-US" altLang="en-US"/>
          </a:p>
          <a:p>
            <a:pPr marL="285750" indent="-285750">
              <a:buFont typeface="Arial" panose="020B0604020202020204" pitchFamily="34" charset="0"/>
              <a:buChar char="•"/>
            </a:pPr>
            <a:r>
              <a:rPr lang="en-US" altLang="en-US"/>
              <a:t>Kharif: 5.89 T/1,000 m³</a:t>
            </a:r>
            <a:endParaRPr lang="en-US" altLang="en-US"/>
          </a:p>
          <a:p>
            <a:pPr marL="285750" indent="-285750">
              <a:buFont typeface="Arial" panose="020B0604020202020204" pitchFamily="34" charset="0"/>
              <a:buChar char="•"/>
            </a:pPr>
            <a:r>
              <a:rPr lang="en-US" altLang="en-US"/>
              <a:t>Rabi: 5.19 T/1,000 m³</a:t>
            </a:r>
            <a:endParaRPr lang="en-US" altLang="en-US"/>
          </a:p>
          <a:p>
            <a:pPr marL="285750" indent="-285750">
              <a:buFont typeface="Arial" panose="020B0604020202020204" pitchFamily="34" charset="0"/>
              <a:buChar char="•"/>
            </a:pPr>
            <a:r>
              <a:rPr lang="en-US" altLang="en-US"/>
              <a:t>Zaid: 4.41 T/1,000 m³</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US" altLang="en-US" dirty="0"/>
              <a:t>Economic &amp; Statistical Analysis</a:t>
            </a:r>
            <a:endParaRPr lang="en-US" altLang="en-US" dirty="0"/>
          </a:p>
        </p:txBody>
      </p:sp>
      <p:sp>
        <p:nvSpPr>
          <p:cNvPr id="2" name="Text Box 1"/>
          <p:cNvSpPr txBox="1"/>
          <p:nvPr/>
        </p:nvSpPr>
        <p:spPr>
          <a:xfrm>
            <a:off x="807720" y="1781175"/>
            <a:ext cx="10113010" cy="4883785"/>
          </a:xfrm>
          <a:prstGeom prst="rect">
            <a:avLst/>
          </a:prstGeom>
          <a:noFill/>
        </p:spPr>
        <p:txBody>
          <a:bodyPr wrap="square" rtlCol="0">
            <a:noAutofit/>
          </a:bodyPr>
          <a:p>
            <a:endParaRPr lang="en-US"/>
          </a:p>
        </p:txBody>
      </p:sp>
      <p:pic>
        <p:nvPicPr>
          <p:cNvPr id="3" name="Picture 2"/>
          <p:cNvPicPr>
            <a:picLocks noChangeAspect="1"/>
          </p:cNvPicPr>
          <p:nvPr/>
        </p:nvPicPr>
        <p:blipFill>
          <a:blip r:embed="rId2"/>
          <a:stretch>
            <a:fillRect/>
          </a:stretch>
        </p:blipFill>
        <p:spPr>
          <a:xfrm>
            <a:off x="807720" y="2014855"/>
            <a:ext cx="4998720" cy="3939540"/>
          </a:xfrm>
          <a:prstGeom prst="rect">
            <a:avLst/>
          </a:prstGeom>
        </p:spPr>
      </p:pic>
      <p:sp>
        <p:nvSpPr>
          <p:cNvPr id="6" name="Text Box 5"/>
          <p:cNvSpPr txBox="1"/>
          <p:nvPr/>
        </p:nvSpPr>
        <p:spPr>
          <a:xfrm>
            <a:off x="6096000" y="2014855"/>
            <a:ext cx="5739765" cy="4843780"/>
          </a:xfrm>
          <a:prstGeom prst="rect">
            <a:avLst/>
          </a:prstGeom>
          <a:noFill/>
        </p:spPr>
        <p:txBody>
          <a:bodyPr wrap="square" rtlCol="0">
            <a:noAutofit/>
          </a:bodyPr>
          <a:p>
            <a:pPr>
              <a:lnSpc>
                <a:spcPct val="70000"/>
              </a:lnSpc>
            </a:pPr>
            <a:r>
              <a:rPr lang="en-US" altLang="en-US" sz="1600">
                <a:latin typeface="Arial" panose="020B0604020202020204" pitchFamily="34" charset="0"/>
                <a:cs typeface="Arial" panose="020B0604020202020204" pitchFamily="34" charset="0"/>
              </a:rPr>
              <a:t>Economic Finding</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Kharif</a:t>
            </a: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Highest average profit: ₹1.79 lakh</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Rabi</a:t>
            </a: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Average profit: ₹0.88 lakh</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Zaid</a:t>
            </a: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Average loss: ₹0.25 lakh</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Statistical Finding</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Seasonal Profit ANOVA</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p-value = 1.71 × 10⁻¹⁵</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Since:</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p &lt; 0.05</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there is strong statistical evidence that average profit differs across seasons.</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Seasonal yield ANOVA: p = 0.2137  </a:t>
            </a:r>
            <a:endParaRPr lang="en-US" sz="16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Future scope</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1042035" y="1576070"/>
            <a:ext cx="8589645" cy="4802505"/>
          </a:xfrm>
          <a:prstGeom prst="rect">
            <a:avLst/>
          </a:prstGeom>
          <a:noFill/>
        </p:spPr>
        <p:txBody>
          <a:bodyPr wrap="square" rtlCol="0">
            <a:noAutofit/>
          </a:bodyPr>
          <a:p>
            <a:pPr>
              <a:lnSpc>
                <a:spcPct val="70000"/>
              </a:lnSpc>
            </a:pPr>
            <a:r>
              <a:rPr lang="en-US" altLang="en-US" sz="1600">
                <a:latin typeface="Arial" panose="020B0604020202020204" pitchFamily="34" charset="0"/>
                <a:cs typeface="Arial" panose="020B0604020202020204" pitchFamily="34" charset="0"/>
              </a:rPr>
              <a:t>Future Scope</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1. Predictive Analytics</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Develop models to predict crop yield and profitability. </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2. Weather Integration</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Incorporate real-time weather and rainfall data. </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3. Regional Analysis</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Compare agricultural performance across states and districts. </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4. Advanced Resource Optimization</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Analyze optimal water, fertilizer and pesticide usage. </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5. Interactive Dashboard</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Develop a dashboard for farmers and agricultural planners. </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6. Time-Series Analysis</a:t>
            </a:r>
            <a:endParaRPr lang="en-US" altLang="en-US" sz="1600">
              <a:latin typeface="Arial" panose="020B0604020202020204" pitchFamily="34" charset="0"/>
              <a:cs typeface="Arial" panose="020B0604020202020204" pitchFamily="34" charset="0"/>
            </a:endParaRPr>
          </a:p>
          <a:p>
            <a:pPr>
              <a:lnSpc>
                <a:spcPct val="70000"/>
              </a:lnSpc>
            </a:pPr>
            <a:endParaRPr lang="en-US" altLang="en-US" sz="1600">
              <a:latin typeface="Arial" panose="020B0604020202020204" pitchFamily="34" charset="0"/>
              <a:cs typeface="Arial" panose="020B0604020202020204" pitchFamily="34" charset="0"/>
            </a:endParaRPr>
          </a:p>
          <a:p>
            <a:pPr>
              <a:lnSpc>
                <a:spcPct val="70000"/>
              </a:lnSpc>
            </a:pPr>
            <a:r>
              <a:rPr lang="en-US" altLang="en-US" sz="1600">
                <a:latin typeface="Arial" panose="020B0604020202020204" pitchFamily="34" charset="0"/>
                <a:cs typeface="Arial" panose="020B0604020202020204" pitchFamily="34" charset="0"/>
              </a:rPr>
              <a:t> Study agricultural performance across multiple years.</a:t>
            </a:r>
            <a:endParaRPr lang="en-US" sz="16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GitHub Link</a:t>
            </a:r>
            <a:endParaRPr lang="en-IN" sz="40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869315" y="1821815"/>
            <a:ext cx="7487285" cy="1226185"/>
          </a:xfrm>
          <a:prstGeom prst="rect">
            <a:avLst/>
          </a:prstGeom>
          <a:noFill/>
        </p:spPr>
        <p:txBody>
          <a:bodyPr wrap="square" rtlCol="0">
            <a:noAutofit/>
          </a:bodyPr>
          <a:p>
            <a:r>
              <a:rPr lang="en-IN" altLang="en-US">
                <a:hlinkClick r:id="rId2" tooltip="" action="ppaction://hlinkfile">
                  <a:extLst>
                    <a:ext uri="{DAF060AB-1E55-43B9-8AAB-6FB025537F2F}">
                      <wpsdc:hlinkClr xmlns:wpsdc="http://www.wps.cn/officeDocument/2017/drawingmlCustomData" val="3FCDE7"/>
                      <wpsdc:folHlinkClr xmlns:wpsdc="http://www.wps.cn/officeDocument/2017/drawingmlCustomData" val="A9D3E1"/>
                      <wpsdc:hlinkUnderline xmlns:wpsdc="http://www.wps.cn/officeDocument/2017/drawingmlCustomData" val="1"/>
                    </a:ext>
                  </a:extLst>
                </a:hlinkClick>
              </a:rPr>
              <a:t>https://github.com/SK-P-BibiAyesha/Seasonal-Agriculture-Performance-Analysis</a:t>
            </a:r>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36020" y="1473835"/>
            <a:ext cx="11340000" cy="700114"/>
          </a:xfrm>
          <a:prstGeom prst="rect">
            <a:avLst/>
          </a:prstGeom>
        </p:spPr>
        <p:txBody>
          <a:bodyPr anchor="ctr">
            <a:normAutofit fontScale="90000"/>
          </a:bodyPr>
          <a:lstStyle/>
          <a:p>
            <a:pPr algn="ctr"/>
            <a:r>
              <a:rPr lang="en-US" sz="4800" b="1" dirty="0">
                <a:solidFill>
                  <a:schemeClr val="tx1"/>
                </a:solidFill>
              </a:rPr>
              <a:t>Thank you</a:t>
            </a:r>
            <a:endParaRPr lang="en-US" sz="48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12" name="Text Placeholder 11"/>
          <p:cNvSpPr>
            <a:spLocks noGrp="1"/>
          </p:cNvSpPr>
          <p:nvPr>
            <p:ph type="body" sz="quarter" idx="12"/>
          </p:nvPr>
        </p:nvSpPr>
        <p:spPr>
          <a:xfrm>
            <a:off x="803910" y="2705100"/>
            <a:ext cx="9258935" cy="3766820"/>
          </a:xfrm>
        </p:spPr>
        <p:txBody>
          <a:bodyPr>
            <a:normAutofit/>
          </a:bodyPr>
          <a:lstStyle/>
          <a:p>
            <a:r>
              <a:rPr lang="en-US" altLang="en-US" sz="2545" b="0" dirty="0">
                <a:ln>
                  <a:noFill/>
                </a:ln>
                <a:solidFill>
                  <a:schemeClr val="tx1"/>
                </a:solidFill>
                <a:latin typeface="Arial" panose="020B0604020202020204" pitchFamily="34" charset="0"/>
                <a:cs typeface="Arial" panose="020B0604020202020204" pitchFamily="34" charset="0"/>
              </a:rPr>
              <a:t>Seasonal Agriculture Performance Analysis</a:t>
            </a:r>
            <a:endParaRPr lang="en-US" altLang="en-US" sz="2545" b="0" dirty="0">
              <a:ln>
                <a:noFill/>
              </a:ln>
              <a:solidFill>
                <a:schemeClr val="tx1"/>
              </a:solidFill>
              <a:latin typeface="Arial" panose="020B0604020202020204" pitchFamily="34" charset="0"/>
              <a:cs typeface="Arial" panose="020B0604020202020204" pitchFamily="34" charset="0"/>
            </a:endParaRPr>
          </a:p>
          <a:p>
            <a:endParaRPr lang="en-US" altLang="en-US" sz="2545" b="0" dirty="0">
              <a:ln>
                <a:noFill/>
              </a:ln>
              <a:solidFill>
                <a:schemeClr val="tx1"/>
              </a:solidFill>
              <a:latin typeface="Arial" panose="020B0604020202020204" pitchFamily="34" charset="0"/>
              <a:cs typeface="Arial" panose="020B0604020202020204" pitchFamily="34" charset="0"/>
            </a:endParaRPr>
          </a:p>
          <a:p>
            <a:r>
              <a:rPr lang="en-US" altLang="en-US" sz="2545" b="0" dirty="0">
                <a:ln>
                  <a:noFill/>
                </a:ln>
                <a:solidFill>
                  <a:schemeClr val="tx1"/>
                </a:solidFill>
                <a:latin typeface="Arial" panose="020B0604020202020204" pitchFamily="34" charset="0"/>
                <a:cs typeface="Arial" panose="020B0604020202020204" pitchFamily="34" charset="0"/>
              </a:rPr>
              <a:t>Data Analytics Project</a:t>
            </a:r>
            <a:endParaRPr lang="en-US" altLang="en-US" sz="2545" b="0" dirty="0">
              <a:ln>
                <a:noFill/>
              </a:ln>
              <a:solidFill>
                <a:schemeClr val="tx1"/>
              </a:solidFill>
              <a:latin typeface="Arial" panose="020B0604020202020204" pitchFamily="34" charset="0"/>
              <a:cs typeface="Arial" panose="020B0604020202020204" pitchFamily="34" charset="0"/>
            </a:endParaRPr>
          </a:p>
          <a:p>
            <a:endParaRPr lang="en-US" altLang="en-US" sz="2545" b="0" dirty="0">
              <a:ln>
                <a:noFill/>
              </a:ln>
              <a:solidFill>
                <a:schemeClr val="tx1"/>
              </a:solidFill>
              <a:latin typeface="Arial" panose="020B0604020202020204" pitchFamily="34" charset="0"/>
              <a:cs typeface="Arial" panose="020B0604020202020204" pitchFamily="34" charset="0"/>
            </a:endParaRPr>
          </a:p>
          <a:p>
            <a:r>
              <a:rPr lang="en-IN" altLang="en-US" sz="2545" b="0" dirty="0">
                <a:ln>
                  <a:noFill/>
                </a:ln>
                <a:solidFill>
                  <a:schemeClr val="tx1"/>
                </a:solidFill>
                <a:latin typeface="Arial" panose="020B0604020202020204" pitchFamily="34" charset="0"/>
                <a:cs typeface="Arial" panose="020B0604020202020204" pitchFamily="34" charset="0"/>
              </a:rPr>
              <a:t>SHAIK PATTA BIBI AYESHA</a:t>
            </a:r>
            <a:endParaRPr lang="en-IN" altLang="en-US" sz="2545" b="0" dirty="0">
              <a:ln>
                <a:noFill/>
              </a:ln>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B19EB750-A6DA-4BE8-B87B-FC499FE73360}">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4973</Words>
  <Application>WPS Presentation</Application>
  <PresentationFormat>Widescreen</PresentationFormat>
  <Paragraphs>196</Paragraphs>
  <Slides>13</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Wingdings 3</vt:lpstr>
      <vt:lpstr>Arial</vt:lpstr>
      <vt:lpstr>Calibri</vt:lpstr>
      <vt:lpstr>Trebuchet MS</vt:lpstr>
      <vt:lpstr>Microsoft YaHei</vt:lpstr>
      <vt:lpstr>Arial Unicode MS</vt:lpstr>
      <vt:lpstr>华文新魏</vt:lpstr>
      <vt:lpstr>Segoe Print</vt:lpstr>
      <vt:lpstr>Facet</vt:lpstr>
      <vt:lpstr>Project Title - Seasonal Agricultural Performance Analysis</vt:lpstr>
      <vt:lpstr>PROBLEM  STATEMENT</vt:lpstr>
      <vt:lpstr>Project Description  The Seasonal Agriculture Performance Analysis project focuses on analyzing agricultural data collected across different seasons, geographical areas, crops and farming conditions.  The dataset contains information related to farming practices, environmental conditions, crop production, resource utilization and economic performance. The project aims to understand how agricultural performance changes across different seasons by exploring patterns, trends, relationships and variations in the available data.  The analysis will begin with data exploration and cleaning to understand the structure, quality and characteristics of the dataset. Different statistical and data visualization techniques will then be used to compare agricultural performance across seasons.  The project will examine seasonal differences in crop production, yield, resource usage, environmental conditions and economic outcomes. It will also investigate relationships between environmental and farming conditions and agricultural performance.  The findings will be interpreted based on evidence from the dataset. The project will conclude with important insights and data-driven recommendations that can support better understanding and planning of seasonal agricultural activities.  </vt:lpstr>
      <vt:lpstr>WHO ARE THE END USERS?</vt:lpstr>
      <vt:lpstr>Technology Used</vt:lpstr>
      <vt:lpstr>RESULTS </vt:lpstr>
      <vt:lpstr>RESULTS </vt:lpstr>
      <vt:lpstr>RESULTS </vt:lpstr>
      <vt:lpstr>RESULTS </vt:lpstr>
      <vt:lpstr>RESULTS </vt:lpstr>
      <vt:lpstr>Future scope</vt:lpstr>
      <vt:lpstr>GitHub Link</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SHAIK PATTA BIBI AYESHA</cp:lastModifiedBy>
  <cp:revision>101</cp:revision>
  <dcterms:created xsi:type="dcterms:W3CDTF">2021-07-11T13:13:00Z</dcterms:created>
  <dcterms:modified xsi:type="dcterms:W3CDTF">2026-09-15T14:52:00Z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1033-12.1.0.28485</vt:lpwstr>
  </property>
  <property fmtid="{D5CDD505-2E9C-101B-9397-08002B2CF9AE}" pid="4" name="ICV">
    <vt:lpwstr>343F121956854A8399A825C802195AE7_12</vt:lpwstr>
  </property>
</Properties>
</file>